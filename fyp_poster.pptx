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82880"/>
            <a:ext cx="822960" cy="822960"/>
          </a:xfrm>
          <a:prstGeom prst="roundRect">
            <a:avLst/>
          </a:prstGeom>
          <a:solidFill>
            <a:srgbClr val="2A4A70"/>
          </a:solidFill>
          <a:ln w="12700">
            <a:solidFill>
              <a:srgbClr val="5580B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defRPr>
            </a:pPr>
            <a:r>
              <a:t>UMS</a:t>
            </a:r>
          </a:p>
        </p:txBody>
      </p:sp>
      <p:sp>
        <p:nvSpPr>
          <p:cNvPr id="4" name="TextBox 3"/>
          <p:cNvSpPr txBox="1"/>
          <p:nvPr/>
        </p:nvSpPr>
        <p:spPr>
          <a:xfrm>
            <a:off x="1463040" y="109728"/>
            <a:ext cx="7315200" cy="274320"/>
          </a:xfrm>
          <a:prstGeom prst="rect">
            <a:avLst/>
          </a:prstGeom>
          <a:noFill/>
        </p:spPr>
        <p:txBody>
          <a:bodyPr wrap="square">
            <a:spAutoFit/>
          </a:bodyPr>
          <a:lstStyle/>
          <a:p>
            <a:pPr algn="l">
              <a:defRPr sz="900" b="0">
                <a:solidFill>
                  <a:srgbClr val="AABBDD"/>
                </a:solidFill>
                <a:latin typeface="Calibri"/>
              </a:defRPr>
            </a:pPr>
            <a:r>
              <a:t>UNIVERSITI MALAYSIA SABAH</a:t>
            </a:r>
          </a:p>
        </p:txBody>
      </p:sp>
      <p:sp>
        <p:nvSpPr>
          <p:cNvPr id="5" name="TextBox 4"/>
          <p:cNvSpPr txBox="1"/>
          <p:nvPr/>
        </p:nvSpPr>
        <p:spPr>
          <a:xfrm>
            <a:off x="1463040" y="320040"/>
            <a:ext cx="7315200" cy="274320"/>
          </a:xfrm>
          <a:prstGeom prst="rect">
            <a:avLst/>
          </a:prstGeom>
          <a:noFill/>
        </p:spPr>
        <p:txBody>
          <a:bodyPr wrap="square">
            <a:spAutoFit/>
          </a:bodyPr>
          <a:lstStyle/>
          <a:p>
            <a:pPr algn="l">
              <a:defRPr sz="800" b="0">
                <a:solidFill>
                  <a:srgbClr val="8899BB"/>
                </a:solidFill>
                <a:latin typeface="Calibri"/>
              </a:defRPr>
            </a:pPr>
            <a:r>
              <a:t>Faculty of Computing and Informatics</a:t>
            </a:r>
          </a:p>
        </p:txBody>
      </p:sp>
      <p:sp>
        <p:nvSpPr>
          <p:cNvPr id="6" name="TextBox 5"/>
          <p:cNvSpPr txBox="1"/>
          <p:nvPr/>
        </p:nvSpPr>
        <p:spPr>
          <a:xfrm>
            <a:off x="1463040" y="548640"/>
            <a:ext cx="8229600" cy="640080"/>
          </a:xfrm>
          <a:prstGeom prst="rect">
            <a:avLst/>
          </a:prstGeom>
          <a:noFill/>
        </p:spPr>
        <p:txBody>
          <a:bodyPr wrap="square">
            <a:spAutoFit/>
          </a:bodyPr>
          <a:lstStyle/>
          <a:p>
            <a:pPr algn="l">
              <a:defRPr sz="2200" b="1">
                <a:solidFill>
                  <a:srgbClr val="FFFFFF"/>
                </a:solidFill>
                <a:latin typeface="Calibri"/>
              </a:defRPr>
            </a:pPr>
            <a:r>
              <a:t>Hijab Catalogue Web Application with Colour Search Functionality</a:t>
            </a:r>
          </a:p>
        </p:txBody>
      </p:sp>
      <p:sp>
        <p:nvSpPr>
          <p:cNvPr id="7" name="TextBox 6"/>
          <p:cNvSpPr txBox="1"/>
          <p:nvPr/>
        </p:nvSpPr>
        <p:spPr>
          <a:xfrm>
            <a:off x="1463040" y="914400"/>
            <a:ext cx="8229600" cy="274320"/>
          </a:xfrm>
          <a:prstGeom prst="rect">
            <a:avLst/>
          </a:prstGeom>
          <a:noFill/>
        </p:spPr>
        <p:txBody>
          <a:bodyPr wrap="square">
            <a:spAutoFit/>
          </a:bodyPr>
          <a:lstStyle/>
          <a:p>
            <a:pPr algn="l">
              <a:defRPr sz="1000" b="0">
                <a:solidFill>
                  <a:srgbClr val="CCDDEE"/>
                </a:solidFill>
                <a:latin typeface="Calibri"/>
              </a:defRPr>
            </a:pPr>
            <a:r>
              <a:t>Norain Aqilah Binti Shamsuddin  |  Bachelor of Computer Science (Data Science)  |  2025</a:t>
            </a:r>
          </a:p>
        </p:txBody>
      </p:sp>
      <p:sp>
        <p:nvSpPr>
          <p:cNvPr id="8" name="Rounded Rectangle 7"/>
          <p:cNvSpPr/>
          <p:nvPr/>
        </p:nvSpPr>
        <p:spPr>
          <a:xfrm>
            <a:off x="10789920" y="274320"/>
            <a:ext cx="1097280" cy="365760"/>
          </a:xfrm>
          <a:prstGeom prst="roundRect">
            <a:avLst/>
          </a:prstGeom>
          <a:solidFill>
            <a:srgbClr val="2A4A70"/>
          </a:solidFill>
          <a:ln w="12700">
            <a:solidFill>
              <a:srgbClr val="558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FYP 2025</a:t>
            </a:r>
          </a:p>
        </p:txBody>
      </p:sp>
      <p:sp>
        <p:nvSpPr>
          <p:cNvPr id="9" name="Rectangle 8"/>
          <p:cNvSpPr/>
          <p:nvPr/>
        </p:nvSpPr>
        <p:spPr>
          <a:xfrm>
            <a:off x="0" y="1188720"/>
            <a:ext cx="2926080" cy="52578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13380" y="1188720"/>
            <a:ext cx="12700" cy="5257800"/>
          </a:xfrm>
          <a:prstGeom prst="rect">
            <a:avLst/>
          </a:prstGeom>
          <a:solidFill>
            <a:srgbClr val="DD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371600"/>
            <a:ext cx="2468880" cy="228600"/>
          </a:xfrm>
          <a:prstGeom prst="rect">
            <a:avLst/>
          </a:prstGeom>
          <a:noFill/>
        </p:spPr>
        <p:txBody>
          <a:bodyPr wrap="square">
            <a:spAutoFit/>
          </a:bodyPr>
          <a:lstStyle/>
          <a:p>
            <a:pPr algn="l">
              <a:defRPr sz="1000" b="1">
                <a:solidFill>
                  <a:srgbClr val="1A2E4A"/>
                </a:solidFill>
                <a:latin typeface="Calibri"/>
              </a:defRPr>
            </a:pPr>
            <a:r>
              <a:t>SYSTEM SCOPE</a:t>
            </a:r>
          </a:p>
        </p:txBody>
      </p:sp>
      <p:sp>
        <p:nvSpPr>
          <p:cNvPr id="12" name="Rectangle 11"/>
          <p:cNvSpPr/>
          <p:nvPr/>
        </p:nvSpPr>
        <p:spPr>
          <a:xfrm>
            <a:off x="274320" y="1600200"/>
            <a:ext cx="1371600" cy="25400"/>
          </a:xfrm>
          <a:prstGeom prst="rect">
            <a:avLst/>
          </a:prstGeom>
          <a:solidFill>
            <a:srgbClr val="2E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1691640"/>
            <a:ext cx="2468880" cy="1645920"/>
          </a:xfrm>
          <a:prstGeom prst="rect">
            <a:avLst/>
          </a:prstGeom>
          <a:noFill/>
        </p:spPr>
        <p:txBody>
          <a:bodyPr wrap="square">
            <a:spAutoFit/>
          </a:bodyPr>
          <a:lstStyle/>
          <a:p>
            <a:pPr algn="l">
              <a:defRPr sz="1000" b="0">
                <a:solidFill>
                  <a:srgbClr val="374151"/>
                </a:solidFill>
                <a:latin typeface="Calibri"/>
              </a:defRPr>
            </a:pPr>
            <a:r>
              <a:t>A centralized hijab e-catalogue platform for Malaysian, Singaporean, and Bruneian markets, operating in MYR.</a:t>
            </a:r>
          </a:p>
          <a:p>
            <a:pPr>
              <a:spcBef>
                <a:spcPts val="200"/>
              </a:spcBef>
              <a:spcAft>
                <a:spcPts val="200"/>
              </a:spcAft>
              <a:defRPr sz="950" b="0">
                <a:solidFill>
                  <a:srgbClr val="374151"/>
                </a:solidFill>
                <a:latin typeface="Calibri"/>
              </a:defRPr>
            </a:pPr>
            <a:r>
              <a:t>Multi-brand product aggregation</a:t>
            </a:r>
          </a:p>
          <a:p>
            <a:pPr>
              <a:spcBef>
                <a:spcPts val="200"/>
              </a:spcBef>
              <a:spcAft>
                <a:spcPts val="200"/>
              </a:spcAft>
              <a:defRPr sz="950" b="0">
                <a:solidFill>
                  <a:srgbClr val="374151"/>
                </a:solidFill>
                <a:latin typeface="Calibri"/>
              </a:defRPr>
            </a:pPr>
            <a:r>
              <a:t>Three user roles: User, Seller, Admin</a:t>
            </a:r>
          </a:p>
          <a:p>
            <a:pPr>
              <a:spcBef>
                <a:spcPts val="200"/>
              </a:spcBef>
              <a:spcAft>
                <a:spcPts val="200"/>
              </a:spcAft>
              <a:defRPr sz="950" b="0">
                <a:solidFill>
                  <a:srgbClr val="374151"/>
                </a:solidFill>
                <a:latin typeface="Calibri"/>
              </a:defRPr>
            </a:pPr>
            <a:r>
              <a:t>Seller-managed product listings &amp; collections</a:t>
            </a:r>
          </a:p>
          <a:p>
            <a:pPr>
              <a:spcBef>
                <a:spcPts val="200"/>
              </a:spcBef>
              <a:spcAft>
                <a:spcPts val="200"/>
              </a:spcAft>
              <a:defRPr sz="950" b="0">
                <a:solidFill>
                  <a:srgbClr val="374151"/>
                </a:solidFill>
                <a:latin typeface="Calibri"/>
              </a:defRPr>
            </a:pPr>
            <a:r>
              <a:t>Stripe payment (MY, SG, BN shipping)</a:t>
            </a:r>
          </a:p>
          <a:p>
            <a:pPr>
              <a:spcBef>
                <a:spcPts val="200"/>
              </a:spcBef>
              <a:spcAft>
                <a:spcPts val="200"/>
              </a:spcAft>
              <a:defRPr sz="950" b="0">
                <a:solidFill>
                  <a:srgbClr val="374151"/>
                </a:solidFill>
                <a:latin typeface="Calibri"/>
              </a:defRPr>
            </a:pPr>
            <a:r>
              <a:t>Email notifications (Resend)</a:t>
            </a:r>
          </a:p>
        </p:txBody>
      </p:sp>
      <p:sp>
        <p:nvSpPr>
          <p:cNvPr id="14" name="TextBox 13"/>
          <p:cNvSpPr txBox="1"/>
          <p:nvPr/>
        </p:nvSpPr>
        <p:spPr>
          <a:xfrm>
            <a:off x="274320" y="3154680"/>
            <a:ext cx="2468880" cy="228600"/>
          </a:xfrm>
          <a:prstGeom prst="rect">
            <a:avLst/>
          </a:prstGeom>
          <a:noFill/>
        </p:spPr>
        <p:txBody>
          <a:bodyPr wrap="square">
            <a:spAutoFit/>
          </a:bodyPr>
          <a:lstStyle/>
          <a:p>
            <a:pPr algn="l">
              <a:defRPr sz="1000" b="1">
                <a:solidFill>
                  <a:srgbClr val="1A2E4A"/>
                </a:solidFill>
                <a:latin typeface="Calibri"/>
              </a:defRPr>
            </a:pPr>
            <a:r>
              <a:t>TARGET USERS</a:t>
            </a:r>
          </a:p>
        </p:txBody>
      </p:sp>
      <p:sp>
        <p:nvSpPr>
          <p:cNvPr id="15" name="Rectangle 14"/>
          <p:cNvSpPr/>
          <p:nvPr/>
        </p:nvSpPr>
        <p:spPr>
          <a:xfrm>
            <a:off x="274320" y="3383280"/>
            <a:ext cx="1371600" cy="25400"/>
          </a:xfrm>
          <a:prstGeom prst="rect">
            <a:avLst/>
          </a:prstGeom>
          <a:solidFill>
            <a:srgbClr val="2E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3474720"/>
            <a:ext cx="2468880" cy="1097280"/>
          </a:xfrm>
          <a:prstGeom prst="rect">
            <a:avLst/>
          </a:prstGeom>
          <a:noFill/>
        </p:spPr>
        <p:txBody>
          <a:bodyPr wrap="square">
            <a:spAutoFit/>
          </a:bodyPr>
          <a:lstStyle/>
          <a:p>
            <a:pPr algn="l">
              <a:defRPr sz="1000" b="0">
                <a:solidFill>
                  <a:srgbClr val="374151"/>
                </a:solidFill>
                <a:latin typeface="Calibri"/>
              </a:defRPr>
            </a:pPr>
          </a:p>
          <a:p>
            <a:pPr>
              <a:spcBef>
                <a:spcPts val="200"/>
              </a:spcBef>
              <a:spcAft>
                <a:spcPts val="200"/>
              </a:spcAft>
              <a:defRPr sz="950" b="0">
                <a:solidFill>
                  <a:srgbClr val="374151"/>
                </a:solidFill>
                <a:latin typeface="Calibri"/>
              </a:defRPr>
            </a:pPr>
            <a:r>
              <a:t>Customers: Browse, search, filter, purchase</a:t>
            </a:r>
          </a:p>
          <a:p>
            <a:pPr>
              <a:spcBef>
                <a:spcPts val="200"/>
              </a:spcBef>
              <a:spcAft>
                <a:spcPts val="200"/>
              </a:spcAft>
              <a:defRPr sz="950" b="0">
                <a:solidFill>
                  <a:srgbClr val="374151"/>
                </a:solidFill>
                <a:latin typeface="Calibri"/>
              </a:defRPr>
            </a:pPr>
            <a:r>
              <a:t>Sellers: Manage products, orders, tracking</a:t>
            </a:r>
          </a:p>
          <a:p>
            <a:pPr>
              <a:spcBef>
                <a:spcPts val="200"/>
              </a:spcBef>
              <a:spcAft>
                <a:spcPts val="200"/>
              </a:spcAft>
              <a:defRPr sz="950" b="0">
                <a:solidFill>
                  <a:srgbClr val="374151"/>
                </a:solidFill>
                <a:latin typeface="Calibri"/>
              </a:defRPr>
            </a:pPr>
            <a:r>
              <a:t>Admins: User mgmt, seller approvals, oversight</a:t>
            </a:r>
          </a:p>
        </p:txBody>
      </p:sp>
      <p:sp>
        <p:nvSpPr>
          <p:cNvPr id="17" name="TextBox 16"/>
          <p:cNvSpPr txBox="1"/>
          <p:nvPr/>
        </p:nvSpPr>
        <p:spPr>
          <a:xfrm>
            <a:off x="274320" y="4389120"/>
            <a:ext cx="2468880" cy="228600"/>
          </a:xfrm>
          <a:prstGeom prst="rect">
            <a:avLst/>
          </a:prstGeom>
          <a:noFill/>
        </p:spPr>
        <p:txBody>
          <a:bodyPr wrap="square">
            <a:spAutoFit/>
          </a:bodyPr>
          <a:lstStyle/>
          <a:p>
            <a:pPr algn="l">
              <a:defRPr sz="1000" b="1">
                <a:solidFill>
                  <a:srgbClr val="1A2E4A"/>
                </a:solidFill>
                <a:latin typeface="Calibri"/>
              </a:defRPr>
            </a:pPr>
            <a:r>
              <a:t>SYSTEM ARCHITECTURE</a:t>
            </a:r>
          </a:p>
        </p:txBody>
      </p:sp>
      <p:sp>
        <p:nvSpPr>
          <p:cNvPr id="18" name="Rectangle 17"/>
          <p:cNvSpPr/>
          <p:nvPr/>
        </p:nvSpPr>
        <p:spPr>
          <a:xfrm>
            <a:off x="274320" y="4617720"/>
            <a:ext cx="1371600" cy="25400"/>
          </a:xfrm>
          <a:prstGeom prst="rect">
            <a:avLst/>
          </a:prstGeom>
          <a:solidFill>
            <a:srgbClr val="2E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74320" y="4709160"/>
            <a:ext cx="2468880" cy="292608"/>
          </a:xfrm>
          <a:prstGeom prst="roundRect">
            <a:avLst/>
          </a:prstGeom>
          <a:solidFill>
            <a:srgbClr val="DBEAFE"/>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1E40AF"/>
                </a:solidFill>
                <a:latin typeface="Calibri"/>
              </a:defRPr>
            </a:pPr>
            <a:r>
              <a:t>Browser (React 19)</a:t>
            </a:r>
          </a:p>
        </p:txBody>
      </p:sp>
      <p:sp>
        <p:nvSpPr>
          <p:cNvPr id="20" name="Rounded Rectangle 19"/>
          <p:cNvSpPr/>
          <p:nvPr/>
        </p:nvSpPr>
        <p:spPr>
          <a:xfrm>
            <a:off x="274320" y="5074920"/>
            <a:ext cx="2468880" cy="292608"/>
          </a:xfrm>
          <a:prstGeom prst="roundRect">
            <a:avLst/>
          </a:prstGeom>
          <a:solidFill>
            <a:srgbClr val="DCFCE7"/>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166534"/>
                </a:solidFill>
                <a:latin typeface="Calibri"/>
              </a:defRPr>
            </a:pPr>
            <a:r>
              <a:t>Next.js 16 (SSR + Server Actions)</a:t>
            </a:r>
          </a:p>
        </p:txBody>
      </p:sp>
      <p:sp>
        <p:nvSpPr>
          <p:cNvPr id="21" name="Rounded Rectangle 20"/>
          <p:cNvSpPr/>
          <p:nvPr/>
        </p:nvSpPr>
        <p:spPr>
          <a:xfrm>
            <a:off x="274320" y="5440680"/>
            <a:ext cx="2468880" cy="292608"/>
          </a:xfrm>
          <a:prstGeom prst="roundRect">
            <a:avLst/>
          </a:prstGeom>
          <a:solidFill>
            <a:srgbClr val="FEF3C7"/>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92400E"/>
                </a:solidFill>
                <a:latin typeface="Calibri"/>
              </a:defRPr>
            </a:pPr>
            <a:r>
              <a:t>Neon PostgreSQL  |  Sanity CMS</a:t>
            </a:r>
          </a:p>
        </p:txBody>
      </p:sp>
      <p:sp>
        <p:nvSpPr>
          <p:cNvPr id="22" name="Rounded Rectangle 21"/>
          <p:cNvSpPr/>
          <p:nvPr/>
        </p:nvSpPr>
        <p:spPr>
          <a:xfrm>
            <a:off x="274320" y="5806440"/>
            <a:ext cx="2468880" cy="292608"/>
          </a:xfrm>
          <a:prstGeom prst="roundRect">
            <a:avLst/>
          </a:prstGeom>
          <a:solidFill>
            <a:srgbClr val="F3E8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6B21A8"/>
                </a:solidFill>
                <a:latin typeface="Calibri"/>
              </a:defRPr>
            </a:pPr>
            <a:r>
              <a:t>Stripe  |  Resend  |  Zustand</a:t>
            </a:r>
          </a:p>
        </p:txBody>
      </p:sp>
      <p:sp>
        <p:nvSpPr>
          <p:cNvPr id="23" name="TextBox 22"/>
          <p:cNvSpPr txBox="1"/>
          <p:nvPr/>
        </p:nvSpPr>
        <p:spPr>
          <a:xfrm>
            <a:off x="274320" y="6217920"/>
            <a:ext cx="2468880" cy="457200"/>
          </a:xfrm>
          <a:prstGeom prst="rect">
            <a:avLst/>
          </a:prstGeom>
          <a:noFill/>
        </p:spPr>
        <p:txBody>
          <a:bodyPr wrap="square">
            <a:spAutoFit/>
          </a:bodyPr>
          <a:lstStyle/>
          <a:p>
            <a:pPr algn="l">
              <a:defRPr sz="800" b="0">
                <a:solidFill>
                  <a:srgbClr val="6B7280"/>
                </a:solidFill>
                <a:latin typeface="Calibri"/>
              </a:defRPr>
            </a:pPr>
            <a:r>
              <a:t>Dual-database: Products/orders in Sanity CMS; users/carts/favourites in PostgreSQL via Prisma ORM.</a:t>
            </a:r>
          </a:p>
        </p:txBody>
      </p:sp>
      <p:sp>
        <p:nvSpPr>
          <p:cNvPr id="24" name="TextBox 23"/>
          <p:cNvSpPr txBox="1"/>
          <p:nvPr/>
        </p:nvSpPr>
        <p:spPr>
          <a:xfrm>
            <a:off x="274320" y="6583680"/>
            <a:ext cx="2468880" cy="228600"/>
          </a:xfrm>
          <a:prstGeom prst="rect">
            <a:avLst/>
          </a:prstGeom>
          <a:noFill/>
        </p:spPr>
        <p:txBody>
          <a:bodyPr wrap="square">
            <a:spAutoFit/>
          </a:bodyPr>
          <a:lstStyle/>
          <a:p>
            <a:pPr algn="l">
              <a:defRPr sz="1000" b="1">
                <a:solidFill>
                  <a:srgbClr val="1A2E4A"/>
                </a:solidFill>
                <a:latin typeface="Calibri"/>
              </a:defRPr>
            </a:pPr>
            <a:r>
              <a:t>TECH STACK</a:t>
            </a:r>
          </a:p>
        </p:txBody>
      </p:sp>
      <p:sp>
        <p:nvSpPr>
          <p:cNvPr id="25" name="Rectangle 24"/>
          <p:cNvSpPr/>
          <p:nvPr/>
        </p:nvSpPr>
        <p:spPr>
          <a:xfrm>
            <a:off x="274320" y="6812280"/>
            <a:ext cx="1371600" cy="25400"/>
          </a:xfrm>
          <a:prstGeom prst="rect">
            <a:avLst/>
          </a:prstGeom>
          <a:solidFill>
            <a:srgbClr val="2E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74320" y="6903720"/>
            <a:ext cx="1188720" cy="256032"/>
          </a:xfrm>
          <a:prstGeom prst="roundRect">
            <a:avLst/>
          </a:prstGeom>
          <a:solidFill>
            <a:srgbClr val="FFFFFF"/>
          </a:solidFill>
          <a:ln w="12700">
            <a:solidFill>
              <a:srgbClr val="DD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1A2E4A"/>
                </a:solidFill>
                <a:latin typeface="Calibri"/>
              </a:defRPr>
            </a:pPr>
            <a:r>
              <a:t>Next.js 16</a:t>
            </a:r>
          </a:p>
          <a:p>
            <a:pPr algn="ctr">
              <a:defRPr sz="700">
                <a:solidFill>
                  <a:srgbClr val="6B7280"/>
                </a:solidFill>
                <a:latin typeface="Calibri"/>
              </a:defRPr>
            </a:pPr>
            <a:r>
              <a:t>Framework</a:t>
            </a:r>
          </a:p>
        </p:txBody>
      </p:sp>
      <p:sp>
        <p:nvSpPr>
          <p:cNvPr id="27" name="Rounded Rectangle 26"/>
          <p:cNvSpPr/>
          <p:nvPr/>
        </p:nvSpPr>
        <p:spPr>
          <a:xfrm>
            <a:off x="1554480" y="6903720"/>
            <a:ext cx="1188720" cy="256032"/>
          </a:xfrm>
          <a:prstGeom prst="roundRect">
            <a:avLst/>
          </a:prstGeom>
          <a:solidFill>
            <a:srgbClr val="FFFFFF"/>
          </a:solidFill>
          <a:ln w="12700">
            <a:solidFill>
              <a:srgbClr val="DD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1A2E4A"/>
                </a:solidFill>
                <a:latin typeface="Calibri"/>
              </a:defRPr>
            </a:pPr>
            <a:r>
              <a:t>React 19</a:t>
            </a:r>
          </a:p>
          <a:p>
            <a:pPr algn="ctr">
              <a:defRPr sz="700">
                <a:solidFill>
                  <a:srgbClr val="6B7280"/>
                </a:solidFill>
                <a:latin typeface="Calibri"/>
              </a:defRPr>
            </a:pPr>
            <a:r>
              <a:t>UI Library</a:t>
            </a:r>
          </a:p>
        </p:txBody>
      </p:sp>
      <p:sp>
        <p:nvSpPr>
          <p:cNvPr id="28" name="Rounded Rectangle 27"/>
          <p:cNvSpPr/>
          <p:nvPr/>
        </p:nvSpPr>
        <p:spPr>
          <a:xfrm>
            <a:off x="274320" y="7205472"/>
            <a:ext cx="1188720" cy="256032"/>
          </a:xfrm>
          <a:prstGeom prst="roundRect">
            <a:avLst/>
          </a:prstGeom>
          <a:solidFill>
            <a:srgbClr val="FFFFFF"/>
          </a:solidFill>
          <a:ln w="12700">
            <a:solidFill>
              <a:srgbClr val="DD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1A2E4A"/>
                </a:solidFill>
                <a:latin typeface="Calibri"/>
              </a:defRPr>
            </a:pPr>
            <a:r>
              <a:t>Prisma 7</a:t>
            </a:r>
          </a:p>
          <a:p>
            <a:pPr algn="ctr">
              <a:defRPr sz="700">
                <a:solidFill>
                  <a:srgbClr val="6B7280"/>
                </a:solidFill>
                <a:latin typeface="Calibri"/>
              </a:defRPr>
            </a:pPr>
            <a:r>
              <a:t>ORM</a:t>
            </a:r>
          </a:p>
        </p:txBody>
      </p:sp>
      <p:sp>
        <p:nvSpPr>
          <p:cNvPr id="29" name="Rounded Rectangle 28"/>
          <p:cNvSpPr/>
          <p:nvPr/>
        </p:nvSpPr>
        <p:spPr>
          <a:xfrm>
            <a:off x="1554480" y="7205472"/>
            <a:ext cx="1188720" cy="256032"/>
          </a:xfrm>
          <a:prstGeom prst="roundRect">
            <a:avLst/>
          </a:prstGeom>
          <a:solidFill>
            <a:srgbClr val="FFFFFF"/>
          </a:solidFill>
          <a:ln w="12700">
            <a:solidFill>
              <a:srgbClr val="DD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1A2E4A"/>
                </a:solidFill>
                <a:latin typeface="Calibri"/>
              </a:defRPr>
            </a:pPr>
            <a:r>
              <a:t>Sanity v5</a:t>
            </a:r>
          </a:p>
          <a:p>
            <a:pPr algn="ctr">
              <a:defRPr sz="700">
                <a:solidFill>
                  <a:srgbClr val="6B7280"/>
                </a:solidFill>
                <a:latin typeface="Calibri"/>
              </a:defRPr>
            </a:pPr>
            <a:r>
              <a:t>CMS</a:t>
            </a:r>
          </a:p>
        </p:txBody>
      </p:sp>
      <p:sp>
        <p:nvSpPr>
          <p:cNvPr id="30" name="Rounded Rectangle 29"/>
          <p:cNvSpPr/>
          <p:nvPr/>
        </p:nvSpPr>
        <p:spPr>
          <a:xfrm>
            <a:off x="274320" y="7507224"/>
            <a:ext cx="1188720" cy="256032"/>
          </a:xfrm>
          <a:prstGeom prst="roundRect">
            <a:avLst/>
          </a:prstGeom>
          <a:solidFill>
            <a:srgbClr val="FFFFFF"/>
          </a:solidFill>
          <a:ln w="12700">
            <a:solidFill>
              <a:srgbClr val="DD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1A2E4A"/>
                </a:solidFill>
                <a:latin typeface="Calibri"/>
              </a:defRPr>
            </a:pPr>
            <a:r>
              <a:t>Tailwind v4</a:t>
            </a:r>
          </a:p>
          <a:p>
            <a:pPr algn="ctr">
              <a:defRPr sz="700">
                <a:solidFill>
                  <a:srgbClr val="6B7280"/>
                </a:solidFill>
                <a:latin typeface="Calibri"/>
              </a:defRPr>
            </a:pPr>
            <a:r>
              <a:t>Styling</a:t>
            </a:r>
          </a:p>
        </p:txBody>
      </p:sp>
      <p:sp>
        <p:nvSpPr>
          <p:cNvPr id="31" name="Rounded Rectangle 30"/>
          <p:cNvSpPr/>
          <p:nvPr/>
        </p:nvSpPr>
        <p:spPr>
          <a:xfrm>
            <a:off x="1554480" y="7507224"/>
            <a:ext cx="1188720" cy="256032"/>
          </a:xfrm>
          <a:prstGeom prst="roundRect">
            <a:avLst/>
          </a:prstGeom>
          <a:solidFill>
            <a:srgbClr val="FFFFFF"/>
          </a:solidFill>
          <a:ln w="12700">
            <a:solidFill>
              <a:srgbClr val="DD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1A2E4A"/>
                </a:solidFill>
                <a:latin typeface="Calibri"/>
              </a:defRPr>
            </a:pPr>
            <a:r>
              <a:t>Better Auth</a:t>
            </a:r>
          </a:p>
          <a:p>
            <a:pPr algn="ctr">
              <a:defRPr sz="700">
                <a:solidFill>
                  <a:srgbClr val="6B7280"/>
                </a:solidFill>
                <a:latin typeface="Calibri"/>
              </a:defRPr>
            </a:pPr>
            <a:r>
              <a:t>Auth</a:t>
            </a:r>
          </a:p>
        </p:txBody>
      </p:sp>
      <p:sp>
        <p:nvSpPr>
          <p:cNvPr id="32" name="Rounded Rectangle 31"/>
          <p:cNvSpPr/>
          <p:nvPr/>
        </p:nvSpPr>
        <p:spPr>
          <a:xfrm>
            <a:off x="274320" y="7808976"/>
            <a:ext cx="1188720" cy="256032"/>
          </a:xfrm>
          <a:prstGeom prst="roundRect">
            <a:avLst/>
          </a:prstGeom>
          <a:solidFill>
            <a:srgbClr val="FFFFFF"/>
          </a:solidFill>
          <a:ln w="12700">
            <a:solidFill>
              <a:srgbClr val="DD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1A2E4A"/>
                </a:solidFill>
                <a:latin typeface="Calibri"/>
              </a:defRPr>
            </a:pPr>
            <a:r>
              <a:t>Stripe</a:t>
            </a:r>
          </a:p>
          <a:p>
            <a:pPr algn="ctr">
              <a:defRPr sz="700">
                <a:solidFill>
                  <a:srgbClr val="6B7280"/>
                </a:solidFill>
                <a:latin typeface="Calibri"/>
              </a:defRPr>
            </a:pPr>
            <a:r>
              <a:t>Payments</a:t>
            </a:r>
          </a:p>
        </p:txBody>
      </p:sp>
      <p:sp>
        <p:nvSpPr>
          <p:cNvPr id="33" name="Rounded Rectangle 32"/>
          <p:cNvSpPr/>
          <p:nvPr/>
        </p:nvSpPr>
        <p:spPr>
          <a:xfrm>
            <a:off x="1554480" y="7808976"/>
            <a:ext cx="1188720" cy="256032"/>
          </a:xfrm>
          <a:prstGeom prst="roundRect">
            <a:avLst/>
          </a:prstGeom>
          <a:solidFill>
            <a:srgbClr val="FFFFFF"/>
          </a:solidFill>
          <a:ln w="12700">
            <a:solidFill>
              <a:srgbClr val="DD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1A2E4A"/>
                </a:solidFill>
                <a:latin typeface="Calibri"/>
              </a:defRPr>
            </a:pPr>
            <a:r>
              <a:t>Zustand</a:t>
            </a:r>
          </a:p>
          <a:p>
            <a:pPr algn="ctr">
              <a:defRPr sz="700">
                <a:solidFill>
                  <a:srgbClr val="6B7280"/>
                </a:solidFill>
                <a:latin typeface="Calibri"/>
              </a:defRPr>
            </a:pPr>
            <a:r>
              <a:t>State</a:t>
            </a:r>
          </a:p>
        </p:txBody>
      </p:sp>
      <p:sp>
        <p:nvSpPr>
          <p:cNvPr id="34" name="TextBox 33"/>
          <p:cNvSpPr txBox="1"/>
          <p:nvPr/>
        </p:nvSpPr>
        <p:spPr>
          <a:xfrm>
            <a:off x="3063240" y="1371600"/>
            <a:ext cx="8991295" cy="228600"/>
          </a:xfrm>
          <a:prstGeom prst="rect">
            <a:avLst/>
          </a:prstGeom>
          <a:noFill/>
        </p:spPr>
        <p:txBody>
          <a:bodyPr wrap="square">
            <a:spAutoFit/>
          </a:bodyPr>
          <a:lstStyle/>
          <a:p>
            <a:pPr algn="l">
              <a:defRPr sz="1100" b="1">
                <a:solidFill>
                  <a:srgbClr val="1A2E4A"/>
                </a:solidFill>
                <a:latin typeface="Calibri"/>
              </a:defRPr>
            </a:pPr>
            <a:r>
              <a:t>INTRODUCTION</a:t>
            </a:r>
          </a:p>
        </p:txBody>
      </p:sp>
      <p:sp>
        <p:nvSpPr>
          <p:cNvPr id="35" name="Rectangle 34"/>
          <p:cNvSpPr/>
          <p:nvPr/>
        </p:nvSpPr>
        <p:spPr>
          <a:xfrm>
            <a:off x="3063240" y="1600200"/>
            <a:ext cx="1371600" cy="25400"/>
          </a:xfrm>
          <a:prstGeom prst="rect">
            <a:avLst/>
          </a:prstGeom>
          <a:solidFill>
            <a:srgbClr val="2E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63240" y="1673352"/>
            <a:ext cx="8991295" cy="777240"/>
          </a:xfrm>
          <a:prstGeom prst="rect">
            <a:avLst/>
          </a:prstGeom>
          <a:noFill/>
        </p:spPr>
        <p:txBody>
          <a:bodyPr wrap="square">
            <a:spAutoFit/>
          </a:bodyPr>
          <a:lstStyle/>
          <a:p>
            <a:pPr algn="l">
              <a:defRPr sz="1000" b="0">
                <a:solidFill>
                  <a:srgbClr val="374151"/>
                </a:solidFill>
                <a:latin typeface="Calibri"/>
              </a:defRPr>
            </a:pPr>
            <a:r>
              <a:t>The growth of the modest fashion industry has led to an increase in online hijab shopping platforms. However, product data remains fragmented across different brand websites and online marketplaces, each using inconsistent formats. This project proposes a centralized hijab catalogue web application that aggregates product data from multiple brands into a unified platform, enabling users to browse, search, filter, and purchase hijab products. The application features a colour-based search and recommendation system using HSL colour family matching.</a:t>
            </a:r>
          </a:p>
        </p:txBody>
      </p:sp>
      <p:sp>
        <p:nvSpPr>
          <p:cNvPr id="37" name="TextBox 36"/>
          <p:cNvSpPr txBox="1"/>
          <p:nvPr/>
        </p:nvSpPr>
        <p:spPr>
          <a:xfrm>
            <a:off x="3063240" y="2450592"/>
            <a:ext cx="4358487" cy="228600"/>
          </a:xfrm>
          <a:prstGeom prst="rect">
            <a:avLst/>
          </a:prstGeom>
          <a:noFill/>
        </p:spPr>
        <p:txBody>
          <a:bodyPr wrap="square">
            <a:spAutoFit/>
          </a:bodyPr>
          <a:lstStyle/>
          <a:p>
            <a:pPr algn="l">
              <a:defRPr sz="1100" b="1">
                <a:solidFill>
                  <a:srgbClr val="1A2E4A"/>
                </a:solidFill>
                <a:latin typeface="Calibri"/>
              </a:defRPr>
            </a:pPr>
            <a:r>
              <a:t>PROBLEM STATEMENT</a:t>
            </a:r>
          </a:p>
        </p:txBody>
      </p:sp>
      <p:sp>
        <p:nvSpPr>
          <p:cNvPr id="38" name="TextBox 37"/>
          <p:cNvSpPr txBox="1"/>
          <p:nvPr/>
        </p:nvSpPr>
        <p:spPr>
          <a:xfrm>
            <a:off x="7696047" y="2450592"/>
            <a:ext cx="4358487" cy="228600"/>
          </a:xfrm>
          <a:prstGeom prst="rect">
            <a:avLst/>
          </a:prstGeom>
          <a:noFill/>
        </p:spPr>
        <p:txBody>
          <a:bodyPr wrap="square">
            <a:spAutoFit/>
          </a:bodyPr>
          <a:lstStyle/>
          <a:p>
            <a:pPr algn="l">
              <a:defRPr sz="1100" b="1">
                <a:solidFill>
                  <a:srgbClr val="1A2E4A"/>
                </a:solidFill>
                <a:latin typeface="Calibri"/>
              </a:defRPr>
            </a:pPr>
            <a:r>
              <a:t>OBJECTIVES</a:t>
            </a:r>
          </a:p>
        </p:txBody>
      </p:sp>
      <p:sp>
        <p:nvSpPr>
          <p:cNvPr id="39" name="Rectangle 38"/>
          <p:cNvSpPr/>
          <p:nvPr/>
        </p:nvSpPr>
        <p:spPr>
          <a:xfrm>
            <a:off x="3063240" y="2679192"/>
            <a:ext cx="1371600" cy="25400"/>
          </a:xfrm>
          <a:prstGeom prst="rect">
            <a:avLst/>
          </a:prstGeom>
          <a:solidFill>
            <a:srgbClr val="2E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696047" y="2679192"/>
            <a:ext cx="1371600" cy="25400"/>
          </a:xfrm>
          <a:prstGeom prst="rect">
            <a:avLst/>
          </a:prstGeom>
          <a:solidFill>
            <a:srgbClr val="2E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63240" y="2752344"/>
            <a:ext cx="4358487" cy="1005840"/>
          </a:xfrm>
          <a:prstGeom prst="rect">
            <a:avLst/>
          </a:prstGeom>
          <a:noFill/>
        </p:spPr>
        <p:txBody>
          <a:bodyPr wrap="square">
            <a:spAutoFit/>
          </a:bodyPr>
          <a:lstStyle/>
          <a:p>
            <a:pPr algn="l">
              <a:defRPr sz="1000" b="0">
                <a:solidFill>
                  <a:srgbClr val="374151"/>
                </a:solidFill>
                <a:latin typeface="Calibri"/>
              </a:defRPr>
            </a:pPr>
          </a:p>
          <a:p>
            <a:pPr>
              <a:spcBef>
                <a:spcPts val="200"/>
              </a:spcBef>
              <a:spcAft>
                <a:spcPts val="200"/>
              </a:spcAft>
              <a:defRPr sz="950" b="0">
                <a:solidFill>
                  <a:srgbClr val="374151"/>
                </a:solidFill>
                <a:latin typeface="Calibri"/>
              </a:defRPr>
            </a:pPr>
            <a:r>
              <a:t>Product data fragmented across brands with inconsistent formats</a:t>
            </a:r>
          </a:p>
          <a:p>
            <a:pPr>
              <a:spcBef>
                <a:spcPts val="200"/>
              </a:spcBef>
              <a:spcAft>
                <a:spcPts val="200"/>
              </a:spcAft>
              <a:defRPr sz="950" b="0">
                <a:solidFill>
                  <a:srgbClr val="374151"/>
                </a:solidFill>
                <a:latin typeface="Calibri"/>
              </a:defRPr>
            </a:pPr>
            <a:r>
              <a:t>Limited filtering criteria in existing platforms</a:t>
            </a:r>
          </a:p>
          <a:p>
            <a:pPr>
              <a:spcBef>
                <a:spcPts val="200"/>
              </a:spcBef>
              <a:spcAft>
                <a:spcPts val="200"/>
              </a:spcAft>
              <a:defRPr sz="950" b="0">
                <a:solidFill>
                  <a:srgbClr val="374151"/>
                </a:solidFill>
                <a:latin typeface="Calibri"/>
              </a:defRPr>
            </a:pPr>
            <a:r>
              <a:t>No quick-access tool to revisit products</a:t>
            </a:r>
          </a:p>
          <a:p>
            <a:pPr>
              <a:spcBef>
                <a:spcPts val="200"/>
              </a:spcBef>
              <a:spcAft>
                <a:spcPts val="200"/>
              </a:spcAft>
              <a:defRPr sz="950" b="0">
                <a:solidFill>
                  <a:srgbClr val="374151"/>
                </a:solidFill>
                <a:latin typeface="Calibri"/>
              </a:defRPr>
            </a:pPr>
            <a:r>
              <a:t>Minimal cross-brand product recommendations</a:t>
            </a:r>
          </a:p>
        </p:txBody>
      </p:sp>
      <p:sp>
        <p:nvSpPr>
          <p:cNvPr id="42" name="TextBox 41"/>
          <p:cNvSpPr txBox="1"/>
          <p:nvPr/>
        </p:nvSpPr>
        <p:spPr>
          <a:xfrm>
            <a:off x="7696047" y="2752344"/>
            <a:ext cx="4358487" cy="1005840"/>
          </a:xfrm>
          <a:prstGeom prst="rect">
            <a:avLst/>
          </a:prstGeom>
          <a:noFill/>
        </p:spPr>
        <p:txBody>
          <a:bodyPr wrap="square">
            <a:spAutoFit/>
          </a:bodyPr>
          <a:lstStyle/>
          <a:p>
            <a:pPr algn="l">
              <a:defRPr sz="1000" b="0">
                <a:solidFill>
                  <a:srgbClr val="374151"/>
                </a:solidFill>
                <a:latin typeface="Calibri"/>
              </a:defRPr>
            </a:pPr>
          </a:p>
          <a:p>
            <a:pPr>
              <a:spcBef>
                <a:spcPts val="200"/>
              </a:spcBef>
              <a:spcAft>
                <a:spcPts val="200"/>
              </a:spcAft>
              <a:defRPr sz="950" b="0">
                <a:solidFill>
                  <a:srgbClr val="374151"/>
                </a:solidFill>
                <a:latin typeface="Calibri"/>
              </a:defRPr>
            </a:pPr>
            <a:r>
              <a:t>1. Develop normalized data model for consistent product attributes</a:t>
            </a:r>
          </a:p>
          <a:p>
            <a:pPr>
              <a:spcBef>
                <a:spcPts val="200"/>
              </a:spcBef>
              <a:spcAft>
                <a:spcPts val="200"/>
              </a:spcAft>
              <a:defRPr sz="950" b="0">
                <a:solidFill>
                  <a:srgbClr val="374151"/>
                </a:solidFill>
                <a:latin typeface="Calibri"/>
              </a:defRPr>
            </a:pPr>
            <a:r>
              <a:t>2. Implement faceted filtering with colour, size, material, brand</a:t>
            </a:r>
          </a:p>
          <a:p>
            <a:pPr>
              <a:spcBef>
                <a:spcPts val="200"/>
              </a:spcBef>
              <a:spcAft>
                <a:spcPts val="200"/>
              </a:spcAft>
              <a:defRPr sz="950" b="0">
                <a:solidFill>
                  <a:srgbClr val="374151"/>
                </a:solidFill>
                <a:latin typeface="Calibri"/>
              </a:defRPr>
            </a:pPr>
            <a:r>
              <a:t>3. Build Favourites feature for quick product access</a:t>
            </a:r>
          </a:p>
          <a:p>
            <a:pPr>
              <a:spcBef>
                <a:spcPts val="200"/>
              </a:spcBef>
              <a:spcAft>
                <a:spcPts val="200"/>
              </a:spcAft>
              <a:defRPr sz="950" b="0">
                <a:solidFill>
                  <a:srgbClr val="374151"/>
                </a:solidFill>
                <a:latin typeface="Calibri"/>
              </a:defRPr>
            </a:pPr>
            <a:r>
              <a:t>4. Develop colour-based recommendation using HSL matching</a:t>
            </a:r>
          </a:p>
        </p:txBody>
      </p:sp>
      <p:sp>
        <p:nvSpPr>
          <p:cNvPr id="43" name="TextBox 42"/>
          <p:cNvSpPr txBox="1"/>
          <p:nvPr/>
        </p:nvSpPr>
        <p:spPr>
          <a:xfrm>
            <a:off x="3063240" y="3758184"/>
            <a:ext cx="8991295" cy="228600"/>
          </a:xfrm>
          <a:prstGeom prst="rect">
            <a:avLst/>
          </a:prstGeom>
          <a:noFill/>
        </p:spPr>
        <p:txBody>
          <a:bodyPr wrap="square">
            <a:spAutoFit/>
          </a:bodyPr>
          <a:lstStyle/>
          <a:p>
            <a:pPr algn="l">
              <a:defRPr sz="1100" b="1">
                <a:solidFill>
                  <a:srgbClr val="1A2E4A"/>
                </a:solidFill>
                <a:latin typeface="Calibri"/>
              </a:defRPr>
            </a:pPr>
            <a:r>
              <a:t>METHODOLOGY</a:t>
            </a:r>
          </a:p>
        </p:txBody>
      </p:sp>
      <p:sp>
        <p:nvSpPr>
          <p:cNvPr id="44" name="Rectangle 43"/>
          <p:cNvSpPr/>
          <p:nvPr/>
        </p:nvSpPr>
        <p:spPr>
          <a:xfrm>
            <a:off x="3063240" y="3986784"/>
            <a:ext cx="1371600" cy="25400"/>
          </a:xfrm>
          <a:prstGeom prst="rect">
            <a:avLst/>
          </a:prstGeom>
          <a:solidFill>
            <a:srgbClr val="2E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063240" y="4059936"/>
            <a:ext cx="8991295" cy="274320"/>
          </a:xfrm>
          <a:prstGeom prst="rect">
            <a:avLst/>
          </a:prstGeom>
          <a:noFill/>
        </p:spPr>
        <p:txBody>
          <a:bodyPr wrap="square">
            <a:spAutoFit/>
          </a:bodyPr>
          <a:lstStyle/>
          <a:p>
            <a:pPr algn="l">
              <a:defRPr sz="950" b="0">
                <a:solidFill>
                  <a:srgbClr val="374151"/>
                </a:solidFill>
                <a:latin typeface="Calibri"/>
              </a:defRPr>
            </a:pPr>
            <a:r>
              <a:t>Agile (Scrum) with iterative sprint cycles for rapid delivery and continuous improvement:</a:t>
            </a:r>
          </a:p>
        </p:txBody>
      </p:sp>
      <p:sp>
        <p:nvSpPr>
          <p:cNvPr id="46" name="Rounded Rectangle 45"/>
          <p:cNvSpPr/>
          <p:nvPr/>
        </p:nvSpPr>
        <p:spPr>
          <a:xfrm>
            <a:off x="4404207" y="4334256"/>
            <a:ext cx="960120" cy="292608"/>
          </a:xfrm>
          <a:prstGeom prst="round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Calibri"/>
              </a:defRPr>
            </a:pPr>
            <a:r>
              <a:t>Planning</a:t>
            </a:r>
          </a:p>
        </p:txBody>
      </p:sp>
      <p:sp>
        <p:nvSpPr>
          <p:cNvPr id="47" name="TextBox 46"/>
          <p:cNvSpPr txBox="1"/>
          <p:nvPr/>
        </p:nvSpPr>
        <p:spPr>
          <a:xfrm>
            <a:off x="5382615" y="4334256"/>
            <a:ext cx="73152" cy="292608"/>
          </a:xfrm>
          <a:prstGeom prst="rect">
            <a:avLst/>
          </a:prstGeom>
          <a:noFill/>
        </p:spPr>
        <p:txBody>
          <a:bodyPr wrap="square">
            <a:spAutoFit/>
          </a:bodyPr>
          <a:lstStyle/>
          <a:p>
            <a:pPr algn="ctr">
              <a:defRPr sz="1000" b="1">
                <a:solidFill>
                  <a:srgbClr val="6B7280"/>
                </a:solidFill>
                <a:latin typeface="Calibri"/>
              </a:defRPr>
            </a:pPr>
            <a:r>
              <a:t>&gt;</a:t>
            </a:r>
          </a:p>
        </p:txBody>
      </p:sp>
      <p:sp>
        <p:nvSpPr>
          <p:cNvPr id="48" name="Rounded Rectangle 47"/>
          <p:cNvSpPr/>
          <p:nvPr/>
        </p:nvSpPr>
        <p:spPr>
          <a:xfrm>
            <a:off x="5474055" y="4334256"/>
            <a:ext cx="960120" cy="292608"/>
          </a:xfrm>
          <a:prstGeom prst="round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Calibri"/>
              </a:defRPr>
            </a:pPr>
            <a:r>
              <a:t>Design</a:t>
            </a:r>
          </a:p>
        </p:txBody>
      </p:sp>
      <p:sp>
        <p:nvSpPr>
          <p:cNvPr id="49" name="TextBox 48"/>
          <p:cNvSpPr txBox="1"/>
          <p:nvPr/>
        </p:nvSpPr>
        <p:spPr>
          <a:xfrm>
            <a:off x="6452463" y="4334256"/>
            <a:ext cx="73152" cy="292608"/>
          </a:xfrm>
          <a:prstGeom prst="rect">
            <a:avLst/>
          </a:prstGeom>
          <a:noFill/>
        </p:spPr>
        <p:txBody>
          <a:bodyPr wrap="square">
            <a:spAutoFit/>
          </a:bodyPr>
          <a:lstStyle/>
          <a:p>
            <a:pPr algn="ctr">
              <a:defRPr sz="1000" b="1">
                <a:solidFill>
                  <a:srgbClr val="6B7280"/>
                </a:solidFill>
                <a:latin typeface="Calibri"/>
              </a:defRPr>
            </a:pPr>
            <a:r>
              <a:t>&gt;</a:t>
            </a:r>
          </a:p>
        </p:txBody>
      </p:sp>
      <p:sp>
        <p:nvSpPr>
          <p:cNvPr id="50" name="Rounded Rectangle 49"/>
          <p:cNvSpPr/>
          <p:nvPr/>
        </p:nvSpPr>
        <p:spPr>
          <a:xfrm>
            <a:off x="6543903" y="4334256"/>
            <a:ext cx="960120" cy="292608"/>
          </a:xfrm>
          <a:prstGeom prst="round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Calibri"/>
              </a:defRPr>
            </a:pPr>
            <a:r>
              <a:t>Develop</a:t>
            </a:r>
          </a:p>
        </p:txBody>
      </p:sp>
      <p:sp>
        <p:nvSpPr>
          <p:cNvPr id="51" name="TextBox 50"/>
          <p:cNvSpPr txBox="1"/>
          <p:nvPr/>
        </p:nvSpPr>
        <p:spPr>
          <a:xfrm>
            <a:off x="7522311" y="4334256"/>
            <a:ext cx="73152" cy="292608"/>
          </a:xfrm>
          <a:prstGeom prst="rect">
            <a:avLst/>
          </a:prstGeom>
          <a:noFill/>
        </p:spPr>
        <p:txBody>
          <a:bodyPr wrap="square">
            <a:spAutoFit/>
          </a:bodyPr>
          <a:lstStyle/>
          <a:p>
            <a:pPr algn="ctr">
              <a:defRPr sz="1000" b="1">
                <a:solidFill>
                  <a:srgbClr val="6B7280"/>
                </a:solidFill>
                <a:latin typeface="Calibri"/>
              </a:defRPr>
            </a:pPr>
            <a:r>
              <a:t>&gt;</a:t>
            </a:r>
          </a:p>
        </p:txBody>
      </p:sp>
      <p:sp>
        <p:nvSpPr>
          <p:cNvPr id="52" name="Rounded Rectangle 51"/>
          <p:cNvSpPr/>
          <p:nvPr/>
        </p:nvSpPr>
        <p:spPr>
          <a:xfrm>
            <a:off x="7613751" y="4334256"/>
            <a:ext cx="960120" cy="292608"/>
          </a:xfrm>
          <a:prstGeom prst="round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Calibri"/>
              </a:defRPr>
            </a:pPr>
            <a:r>
              <a:t>Test</a:t>
            </a:r>
          </a:p>
        </p:txBody>
      </p:sp>
      <p:sp>
        <p:nvSpPr>
          <p:cNvPr id="53" name="TextBox 52"/>
          <p:cNvSpPr txBox="1"/>
          <p:nvPr/>
        </p:nvSpPr>
        <p:spPr>
          <a:xfrm>
            <a:off x="8592159" y="4334256"/>
            <a:ext cx="73152" cy="292608"/>
          </a:xfrm>
          <a:prstGeom prst="rect">
            <a:avLst/>
          </a:prstGeom>
          <a:noFill/>
        </p:spPr>
        <p:txBody>
          <a:bodyPr wrap="square">
            <a:spAutoFit/>
          </a:bodyPr>
          <a:lstStyle/>
          <a:p>
            <a:pPr algn="ctr">
              <a:defRPr sz="1000" b="1">
                <a:solidFill>
                  <a:srgbClr val="6B7280"/>
                </a:solidFill>
                <a:latin typeface="Calibri"/>
              </a:defRPr>
            </a:pPr>
            <a:r>
              <a:t>&gt;</a:t>
            </a:r>
          </a:p>
        </p:txBody>
      </p:sp>
      <p:sp>
        <p:nvSpPr>
          <p:cNvPr id="54" name="Rounded Rectangle 53"/>
          <p:cNvSpPr/>
          <p:nvPr/>
        </p:nvSpPr>
        <p:spPr>
          <a:xfrm>
            <a:off x="8683599" y="4334256"/>
            <a:ext cx="960120" cy="292608"/>
          </a:xfrm>
          <a:prstGeom prst="round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Calibri"/>
              </a:defRPr>
            </a:pPr>
            <a:r>
              <a:t>Deploy</a:t>
            </a:r>
          </a:p>
        </p:txBody>
      </p:sp>
      <p:sp>
        <p:nvSpPr>
          <p:cNvPr id="55" name="TextBox 54"/>
          <p:cNvSpPr txBox="1"/>
          <p:nvPr/>
        </p:nvSpPr>
        <p:spPr>
          <a:xfrm>
            <a:off x="9662007" y="4334256"/>
            <a:ext cx="73152" cy="292608"/>
          </a:xfrm>
          <a:prstGeom prst="rect">
            <a:avLst/>
          </a:prstGeom>
          <a:noFill/>
        </p:spPr>
        <p:txBody>
          <a:bodyPr wrap="square">
            <a:spAutoFit/>
          </a:bodyPr>
          <a:lstStyle/>
          <a:p>
            <a:pPr algn="ctr">
              <a:defRPr sz="1000" b="1">
                <a:solidFill>
                  <a:srgbClr val="6B7280"/>
                </a:solidFill>
                <a:latin typeface="Calibri"/>
              </a:defRPr>
            </a:pPr>
            <a:r>
              <a:t>&gt;</a:t>
            </a:r>
          </a:p>
        </p:txBody>
      </p:sp>
      <p:sp>
        <p:nvSpPr>
          <p:cNvPr id="56" name="Rounded Rectangle 55"/>
          <p:cNvSpPr/>
          <p:nvPr/>
        </p:nvSpPr>
        <p:spPr>
          <a:xfrm>
            <a:off x="9753447" y="4334256"/>
            <a:ext cx="960120" cy="292608"/>
          </a:xfrm>
          <a:prstGeom prst="round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Calibri"/>
              </a:defRPr>
            </a:pPr>
            <a:r>
              <a:t>Review</a:t>
            </a:r>
          </a:p>
        </p:txBody>
      </p:sp>
      <p:sp>
        <p:nvSpPr>
          <p:cNvPr id="57" name="TextBox 56"/>
          <p:cNvSpPr txBox="1"/>
          <p:nvPr/>
        </p:nvSpPr>
        <p:spPr>
          <a:xfrm>
            <a:off x="3063240" y="4764024"/>
            <a:ext cx="8991295" cy="228600"/>
          </a:xfrm>
          <a:prstGeom prst="rect">
            <a:avLst/>
          </a:prstGeom>
          <a:noFill/>
        </p:spPr>
        <p:txBody>
          <a:bodyPr wrap="square">
            <a:spAutoFit/>
          </a:bodyPr>
          <a:lstStyle/>
          <a:p>
            <a:pPr algn="l">
              <a:defRPr sz="1100" b="1">
                <a:solidFill>
                  <a:srgbClr val="1A2E4A"/>
                </a:solidFill>
                <a:latin typeface="Calibri"/>
              </a:defRPr>
            </a:pPr>
            <a:r>
              <a:t>SYSTEM SCREENSHOTS</a:t>
            </a:r>
          </a:p>
        </p:txBody>
      </p:sp>
      <p:sp>
        <p:nvSpPr>
          <p:cNvPr id="58" name="Rectangle 57"/>
          <p:cNvSpPr/>
          <p:nvPr/>
        </p:nvSpPr>
        <p:spPr>
          <a:xfrm>
            <a:off x="3063240" y="4992624"/>
            <a:ext cx="1371600" cy="25400"/>
          </a:xfrm>
          <a:prstGeom prst="rect">
            <a:avLst/>
          </a:prstGeom>
          <a:solidFill>
            <a:srgbClr val="2E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3063240" y="5065776"/>
            <a:ext cx="4358487" cy="11887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6B7280"/>
                </a:solidFill>
                <a:latin typeface="Calibri"/>
              </a:defRPr>
            </a:pPr>
            <a:r>
              <a:t>Web Application</a:t>
            </a:r>
          </a:p>
          <a:p>
            <a:pPr algn="ctr">
              <a:defRPr sz="900">
                <a:solidFill>
                  <a:srgbClr val="94A3B8"/>
                </a:solidFill>
                <a:latin typeface="Calibri"/>
              </a:defRPr>
            </a:pPr>
            <a:r>
              <a:t>Insert screenshots here</a:t>
            </a:r>
          </a:p>
        </p:txBody>
      </p:sp>
      <p:sp>
        <p:nvSpPr>
          <p:cNvPr id="60" name="Rounded Rectangle 59"/>
          <p:cNvSpPr/>
          <p:nvPr/>
        </p:nvSpPr>
        <p:spPr>
          <a:xfrm>
            <a:off x="7696047" y="5065776"/>
            <a:ext cx="4358487" cy="11887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6B7280"/>
                </a:solidFill>
                <a:latin typeface="Calibri"/>
              </a:defRPr>
            </a:pPr>
            <a:r>
              <a:t>Database Schema</a:t>
            </a:r>
          </a:p>
          <a:p>
            <a:pPr algn="ctr">
              <a:defRPr sz="900">
                <a:solidFill>
                  <a:srgbClr val="94A3B8"/>
                </a:solidFill>
                <a:latin typeface="Calibri"/>
              </a:defRPr>
            </a:pPr>
            <a:r>
              <a:t>Insert ERD / schema diagrams here</a:t>
            </a:r>
          </a:p>
        </p:txBody>
      </p:sp>
      <p:sp>
        <p:nvSpPr>
          <p:cNvPr id="61" name="TextBox 60"/>
          <p:cNvSpPr txBox="1"/>
          <p:nvPr/>
        </p:nvSpPr>
        <p:spPr>
          <a:xfrm>
            <a:off x="3063240" y="6391656"/>
            <a:ext cx="8991295" cy="228600"/>
          </a:xfrm>
          <a:prstGeom prst="rect">
            <a:avLst/>
          </a:prstGeom>
          <a:noFill/>
        </p:spPr>
        <p:txBody>
          <a:bodyPr wrap="square">
            <a:spAutoFit/>
          </a:bodyPr>
          <a:lstStyle/>
          <a:p>
            <a:pPr algn="l">
              <a:defRPr sz="1100" b="1">
                <a:solidFill>
                  <a:srgbClr val="1A2E4A"/>
                </a:solidFill>
                <a:latin typeface="Calibri"/>
              </a:defRPr>
            </a:pPr>
            <a:r>
              <a:t>SYSTEM VALIDATION</a:t>
            </a:r>
          </a:p>
        </p:txBody>
      </p:sp>
      <p:sp>
        <p:nvSpPr>
          <p:cNvPr id="62" name="Rectangle 61"/>
          <p:cNvSpPr/>
          <p:nvPr/>
        </p:nvSpPr>
        <p:spPr>
          <a:xfrm>
            <a:off x="3063240" y="6620256"/>
            <a:ext cx="1371600" cy="25400"/>
          </a:xfrm>
          <a:prstGeom prst="rect">
            <a:avLst/>
          </a:prstGeom>
          <a:solidFill>
            <a:srgbClr val="2E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3" name="Table 62"/>
          <p:cNvGraphicFramePr>
            <a:graphicFrameLocks noGrp="1"/>
          </p:cNvGraphicFramePr>
          <p:nvPr/>
        </p:nvGraphicFramePr>
        <p:xfrm>
          <a:off x="3063240" y="6693408"/>
          <a:ext cx="5760720" cy="1371600"/>
        </p:xfrm>
        <a:graphic>
          <a:graphicData uri="http://schemas.openxmlformats.org/drawingml/2006/table">
            <a:tbl>
              <a:tblPr firstRow="1" bandRow="1">
                <a:tableStyleId>{5C22544A-7EE6-4342-B048-85BDC9FD1C3A}</a:tableStyleId>
              </a:tblPr>
              <a:tblGrid>
                <a:gridCol w="1645920"/>
                <a:gridCol w="2286000"/>
                <a:gridCol w="1097280"/>
                <a:gridCol w="731520"/>
              </a:tblGrid>
              <a:tr h="152400">
                <a:tc>
                  <a:txBody>
                    <a:bodyPr/>
                    <a:lstStyle/>
                    <a:p>
                      <a:pPr>
                        <a:defRPr sz="850" b="1">
                          <a:solidFill>
                            <a:srgbClr val="FFFFFF"/>
                          </a:solidFill>
                          <a:latin typeface="Calibri"/>
                        </a:defRPr>
                      </a:pPr>
                      <a:r>
                        <a:t>Test Case</a:t>
                      </a:r>
                    </a:p>
                  </a:txBody>
                  <a:tcPr>
                    <a:solidFill>
                      <a:srgbClr val="1A2E4A"/>
                    </a:solidFill>
                  </a:tcPr>
                </a:tc>
                <a:tc>
                  <a:txBody>
                    <a:bodyPr/>
                    <a:lstStyle/>
                    <a:p>
                      <a:pPr>
                        <a:defRPr sz="850" b="1">
                          <a:solidFill>
                            <a:srgbClr val="FFFFFF"/>
                          </a:solidFill>
                          <a:latin typeface="Calibri"/>
                        </a:defRPr>
                      </a:pPr>
                      <a:r>
                        <a:t>Description</a:t>
                      </a:r>
                    </a:p>
                  </a:txBody>
                  <a:tcPr>
                    <a:solidFill>
                      <a:srgbClr val="1A2E4A"/>
                    </a:solidFill>
                  </a:tcPr>
                </a:tc>
                <a:tc>
                  <a:txBody>
                    <a:bodyPr/>
                    <a:lstStyle/>
                    <a:p>
                      <a:pPr>
                        <a:defRPr sz="850" b="1">
                          <a:solidFill>
                            <a:srgbClr val="FFFFFF"/>
                          </a:solidFill>
                          <a:latin typeface="Calibri"/>
                        </a:defRPr>
                      </a:pPr>
                      <a:r>
                        <a:t>Method</a:t>
                      </a:r>
                    </a:p>
                  </a:txBody>
                  <a:tcPr>
                    <a:solidFill>
                      <a:srgbClr val="1A2E4A"/>
                    </a:solidFill>
                  </a:tcPr>
                </a:tc>
                <a:tc>
                  <a:txBody>
                    <a:bodyPr/>
                    <a:lstStyle/>
                    <a:p>
                      <a:pPr>
                        <a:defRPr sz="850" b="1">
                          <a:solidFill>
                            <a:srgbClr val="FFFFFF"/>
                          </a:solidFill>
                          <a:latin typeface="Calibri"/>
                        </a:defRPr>
                      </a:pPr>
                      <a:r>
                        <a:t>Result</a:t>
                      </a:r>
                    </a:p>
                  </a:txBody>
                  <a:tcPr>
                    <a:solidFill>
                      <a:srgbClr val="1A2E4A"/>
                    </a:solidFill>
                  </a:tcPr>
                </a:tc>
              </a:tr>
              <a:tr h="152400">
                <a:tc>
                  <a:txBody>
                    <a:bodyPr/>
                    <a:lstStyle/>
                    <a:p>
                      <a:pPr>
                        <a:defRPr sz="850">
                          <a:solidFill>
                            <a:srgbClr val="374151"/>
                          </a:solidFill>
                          <a:latin typeface="Calibri"/>
                        </a:defRPr>
                      </a:pPr>
                      <a:r>
                        <a:t>User Registration</a:t>
                      </a:r>
                    </a:p>
                  </a:txBody>
                  <a:tcPr/>
                </a:tc>
                <a:tc>
                  <a:txBody>
                    <a:bodyPr/>
                    <a:lstStyle/>
                    <a:p>
                      <a:pPr>
                        <a:defRPr sz="850">
                          <a:solidFill>
                            <a:srgbClr val="374151"/>
                          </a:solidFill>
                          <a:latin typeface="Calibri"/>
                        </a:defRPr>
                      </a:pPr>
                      <a:r>
                        <a:t>Create account with email &amp; password</a:t>
                      </a:r>
                    </a:p>
                  </a:txBody>
                  <a:tcPr/>
                </a:tc>
                <a:tc>
                  <a:txBody>
                    <a:bodyPr/>
                    <a:lstStyle/>
                    <a:p>
                      <a:pPr>
                        <a:defRPr sz="850">
                          <a:solidFill>
                            <a:srgbClr val="374151"/>
                          </a:solidFill>
                          <a:latin typeface="Calibri"/>
                        </a:defRPr>
                      </a:pPr>
                      <a:r>
                        <a:t>API testing</a:t>
                      </a:r>
                    </a:p>
                  </a:txBody>
                  <a:tcPr/>
                </a:tc>
                <a:tc>
                  <a:txBody>
                    <a:bodyPr/>
                    <a:lstStyle/>
                    <a:p>
                      <a:pPr>
                        <a:defRPr sz="850" b="1">
                          <a:solidFill>
                            <a:srgbClr val="166534"/>
                          </a:solidFill>
                          <a:latin typeface="Calibri"/>
                        </a:defRPr>
                      </a:pPr>
                      <a:r>
                        <a:t>PASS</a:t>
                      </a:r>
                    </a:p>
                  </a:txBody>
                  <a:tcPr/>
                </a:tc>
              </a:tr>
              <a:tr h="152400">
                <a:tc>
                  <a:txBody>
                    <a:bodyPr/>
                    <a:lstStyle/>
                    <a:p>
                      <a:pPr>
                        <a:defRPr sz="850">
                          <a:solidFill>
                            <a:srgbClr val="374151"/>
                          </a:solidFill>
                          <a:latin typeface="Calibri"/>
                        </a:defRPr>
                      </a:pPr>
                      <a:r>
                        <a:t>User Login</a:t>
                      </a:r>
                    </a:p>
                  </a:txBody>
                  <a:tcPr>
                    <a:solidFill>
                      <a:srgbClr val="F9FAFB"/>
                    </a:solidFill>
                  </a:tcPr>
                </a:tc>
                <a:tc>
                  <a:txBody>
                    <a:bodyPr/>
                    <a:lstStyle/>
                    <a:p>
                      <a:pPr>
                        <a:defRPr sz="850">
                          <a:solidFill>
                            <a:srgbClr val="374151"/>
                          </a:solidFill>
                          <a:latin typeface="Calibri"/>
                        </a:defRPr>
                      </a:pPr>
                      <a:r>
                        <a:t>Authenticate and retrieve session</a:t>
                      </a:r>
                    </a:p>
                  </a:txBody>
                  <a:tcPr>
                    <a:solidFill>
                      <a:srgbClr val="F9FAFB"/>
                    </a:solidFill>
                  </a:tcPr>
                </a:tc>
                <a:tc>
                  <a:txBody>
                    <a:bodyPr/>
                    <a:lstStyle/>
                    <a:p>
                      <a:pPr>
                        <a:defRPr sz="850">
                          <a:solidFill>
                            <a:srgbClr val="374151"/>
                          </a:solidFill>
                          <a:latin typeface="Calibri"/>
                        </a:defRPr>
                      </a:pPr>
                      <a:r>
                        <a:t>API testing</a:t>
                      </a:r>
                    </a:p>
                  </a:txBody>
                  <a:tcPr>
                    <a:solidFill>
                      <a:srgbClr val="F9FAFB"/>
                    </a:solidFill>
                  </a:tcPr>
                </a:tc>
                <a:tc>
                  <a:txBody>
                    <a:bodyPr/>
                    <a:lstStyle/>
                    <a:p>
                      <a:pPr>
                        <a:defRPr sz="850" b="1">
                          <a:solidFill>
                            <a:srgbClr val="166534"/>
                          </a:solidFill>
                          <a:latin typeface="Calibri"/>
                        </a:defRPr>
                      </a:pPr>
                      <a:r>
                        <a:t>PASS</a:t>
                      </a:r>
                    </a:p>
                  </a:txBody>
                  <a:tcPr>
                    <a:solidFill>
                      <a:srgbClr val="F9FAFB"/>
                    </a:solidFill>
                  </a:tcPr>
                </a:tc>
              </a:tr>
              <a:tr h="152400">
                <a:tc>
                  <a:txBody>
                    <a:bodyPr/>
                    <a:lstStyle/>
                    <a:p>
                      <a:pPr>
                        <a:defRPr sz="850">
                          <a:solidFill>
                            <a:srgbClr val="374151"/>
                          </a:solidFill>
                          <a:latin typeface="Calibri"/>
                        </a:defRPr>
                      </a:pPr>
                      <a:r>
                        <a:t>Product Browsing</a:t>
                      </a:r>
                    </a:p>
                  </a:txBody>
                  <a:tcPr/>
                </a:tc>
                <a:tc>
                  <a:txBody>
                    <a:bodyPr/>
                    <a:lstStyle/>
                    <a:p>
                      <a:pPr>
                        <a:defRPr sz="850">
                          <a:solidFill>
                            <a:srgbClr val="374151"/>
                          </a:solidFill>
                          <a:latin typeface="Calibri"/>
                        </a:defRPr>
                      </a:pPr>
                      <a:r>
                        <a:t>View products by category and search</a:t>
                      </a:r>
                    </a:p>
                  </a:txBody>
                  <a:tcPr/>
                </a:tc>
                <a:tc>
                  <a:txBody>
                    <a:bodyPr/>
                    <a:lstStyle/>
                    <a:p>
                      <a:pPr>
                        <a:defRPr sz="850">
                          <a:solidFill>
                            <a:srgbClr val="374151"/>
                          </a:solidFill>
                          <a:latin typeface="Calibri"/>
                        </a:defRPr>
                      </a:pPr>
                      <a:r>
                        <a:t>Functional</a:t>
                      </a:r>
                    </a:p>
                  </a:txBody>
                  <a:tcPr/>
                </a:tc>
                <a:tc>
                  <a:txBody>
                    <a:bodyPr/>
                    <a:lstStyle/>
                    <a:p>
                      <a:pPr>
                        <a:defRPr sz="850" b="1">
                          <a:solidFill>
                            <a:srgbClr val="166534"/>
                          </a:solidFill>
                          <a:latin typeface="Calibri"/>
                        </a:defRPr>
                      </a:pPr>
                      <a:r>
                        <a:t>PASS</a:t>
                      </a:r>
                    </a:p>
                  </a:txBody>
                  <a:tcPr/>
                </a:tc>
              </a:tr>
              <a:tr h="152400">
                <a:tc>
                  <a:txBody>
                    <a:bodyPr/>
                    <a:lstStyle/>
                    <a:p>
                      <a:pPr>
                        <a:defRPr sz="850">
                          <a:solidFill>
                            <a:srgbClr val="374151"/>
                          </a:solidFill>
                          <a:latin typeface="Calibri"/>
                        </a:defRPr>
                      </a:pPr>
                      <a:r>
                        <a:t>Colour Search</a:t>
                      </a:r>
                    </a:p>
                  </a:txBody>
                  <a:tcPr>
                    <a:solidFill>
                      <a:srgbClr val="F9FAFB"/>
                    </a:solidFill>
                  </a:tcPr>
                </a:tc>
                <a:tc>
                  <a:txBody>
                    <a:bodyPr/>
                    <a:lstStyle/>
                    <a:p>
                      <a:pPr>
                        <a:defRPr sz="850">
                          <a:solidFill>
                            <a:srgbClr val="374151"/>
                          </a:solidFill>
                          <a:latin typeface="Calibri"/>
                        </a:defRPr>
                      </a:pPr>
                      <a:r>
                        <a:t>Search products using colour keywords</a:t>
                      </a:r>
                    </a:p>
                  </a:txBody>
                  <a:tcPr>
                    <a:solidFill>
                      <a:srgbClr val="F9FAFB"/>
                    </a:solidFill>
                  </a:tcPr>
                </a:tc>
                <a:tc>
                  <a:txBody>
                    <a:bodyPr/>
                    <a:lstStyle/>
                    <a:p>
                      <a:pPr>
                        <a:defRPr sz="850">
                          <a:solidFill>
                            <a:srgbClr val="374151"/>
                          </a:solidFill>
                          <a:latin typeface="Calibri"/>
                        </a:defRPr>
                      </a:pPr>
                      <a:r>
                        <a:t>Functional</a:t>
                      </a:r>
                    </a:p>
                  </a:txBody>
                  <a:tcPr>
                    <a:solidFill>
                      <a:srgbClr val="F9FAFB"/>
                    </a:solidFill>
                  </a:tcPr>
                </a:tc>
                <a:tc>
                  <a:txBody>
                    <a:bodyPr/>
                    <a:lstStyle/>
                    <a:p>
                      <a:pPr>
                        <a:defRPr sz="850" b="1">
                          <a:solidFill>
                            <a:srgbClr val="166534"/>
                          </a:solidFill>
                          <a:latin typeface="Calibri"/>
                        </a:defRPr>
                      </a:pPr>
                      <a:r>
                        <a:t>PASS</a:t>
                      </a:r>
                    </a:p>
                  </a:txBody>
                  <a:tcPr>
                    <a:solidFill>
                      <a:srgbClr val="F9FAFB"/>
                    </a:solidFill>
                  </a:tcPr>
                </a:tc>
              </a:tr>
              <a:tr h="152400">
                <a:tc>
                  <a:txBody>
                    <a:bodyPr/>
                    <a:lstStyle/>
                    <a:p>
                      <a:pPr>
                        <a:defRPr sz="850">
                          <a:solidFill>
                            <a:srgbClr val="374151"/>
                          </a:solidFill>
                          <a:latin typeface="Calibri"/>
                        </a:defRPr>
                      </a:pPr>
                      <a:r>
                        <a:t>Add to Cart</a:t>
                      </a:r>
                    </a:p>
                  </a:txBody>
                  <a:tcPr/>
                </a:tc>
                <a:tc>
                  <a:txBody>
                    <a:bodyPr/>
                    <a:lstStyle/>
                    <a:p>
                      <a:pPr>
                        <a:defRPr sz="850">
                          <a:solidFill>
                            <a:srgbClr val="374151"/>
                          </a:solidFill>
                          <a:latin typeface="Calibri"/>
                        </a:defRPr>
                      </a:pPr>
                      <a:r>
                        <a:t>Add items, update quantity, sync cart</a:t>
                      </a:r>
                    </a:p>
                  </a:txBody>
                  <a:tcPr/>
                </a:tc>
                <a:tc>
                  <a:txBody>
                    <a:bodyPr/>
                    <a:lstStyle/>
                    <a:p>
                      <a:pPr>
                        <a:defRPr sz="850">
                          <a:solidFill>
                            <a:srgbClr val="374151"/>
                          </a:solidFill>
                          <a:latin typeface="Calibri"/>
                        </a:defRPr>
                      </a:pPr>
                      <a:r>
                        <a:t>Functional</a:t>
                      </a:r>
                    </a:p>
                  </a:txBody>
                  <a:tcPr/>
                </a:tc>
                <a:tc>
                  <a:txBody>
                    <a:bodyPr/>
                    <a:lstStyle/>
                    <a:p>
                      <a:pPr>
                        <a:defRPr sz="850" b="1">
                          <a:solidFill>
                            <a:srgbClr val="166534"/>
                          </a:solidFill>
                          <a:latin typeface="Calibri"/>
                        </a:defRPr>
                      </a:pPr>
                      <a:r>
                        <a:t>PASS</a:t>
                      </a:r>
                    </a:p>
                  </a:txBody>
                  <a:tcPr/>
                </a:tc>
              </a:tr>
              <a:tr h="152400">
                <a:tc>
                  <a:txBody>
                    <a:bodyPr/>
                    <a:lstStyle/>
                    <a:p>
                      <a:pPr>
                        <a:defRPr sz="850">
                          <a:solidFill>
                            <a:srgbClr val="374151"/>
                          </a:solidFill>
                          <a:latin typeface="Calibri"/>
                        </a:defRPr>
                      </a:pPr>
                      <a:r>
                        <a:t>Favourites</a:t>
                      </a:r>
                    </a:p>
                  </a:txBody>
                  <a:tcPr>
                    <a:solidFill>
                      <a:srgbClr val="F9FAFB"/>
                    </a:solidFill>
                  </a:tcPr>
                </a:tc>
                <a:tc>
                  <a:txBody>
                    <a:bodyPr/>
                    <a:lstStyle/>
                    <a:p>
                      <a:pPr>
                        <a:defRPr sz="850">
                          <a:solidFill>
                            <a:srgbClr val="374151"/>
                          </a:solidFill>
                          <a:latin typeface="Calibri"/>
                        </a:defRPr>
                      </a:pPr>
                      <a:r>
                        <a:t>Save and remove products</a:t>
                      </a:r>
                    </a:p>
                  </a:txBody>
                  <a:tcPr>
                    <a:solidFill>
                      <a:srgbClr val="F9FAFB"/>
                    </a:solidFill>
                  </a:tcPr>
                </a:tc>
                <a:tc>
                  <a:txBody>
                    <a:bodyPr/>
                    <a:lstStyle/>
                    <a:p>
                      <a:pPr>
                        <a:defRPr sz="850">
                          <a:solidFill>
                            <a:srgbClr val="374151"/>
                          </a:solidFill>
                          <a:latin typeface="Calibri"/>
                        </a:defRPr>
                      </a:pPr>
                      <a:r>
                        <a:t>Functional</a:t>
                      </a:r>
                    </a:p>
                  </a:txBody>
                  <a:tcPr>
                    <a:solidFill>
                      <a:srgbClr val="F9FAFB"/>
                    </a:solidFill>
                  </a:tcPr>
                </a:tc>
                <a:tc>
                  <a:txBody>
                    <a:bodyPr/>
                    <a:lstStyle/>
                    <a:p>
                      <a:pPr>
                        <a:defRPr sz="850" b="1">
                          <a:solidFill>
                            <a:srgbClr val="166534"/>
                          </a:solidFill>
                          <a:latin typeface="Calibri"/>
                        </a:defRPr>
                      </a:pPr>
                      <a:r>
                        <a:t>PASS</a:t>
                      </a:r>
                    </a:p>
                  </a:txBody>
                  <a:tcPr>
                    <a:solidFill>
                      <a:srgbClr val="F9FAFB"/>
                    </a:solidFill>
                  </a:tcPr>
                </a:tc>
              </a:tr>
              <a:tr h="152400">
                <a:tc>
                  <a:txBody>
                    <a:bodyPr/>
                    <a:lstStyle/>
                    <a:p>
                      <a:pPr>
                        <a:defRPr sz="850">
                          <a:solidFill>
                            <a:srgbClr val="374151"/>
                          </a:solidFill>
                          <a:latin typeface="Calibri"/>
                        </a:defRPr>
                      </a:pPr>
                      <a:r>
                        <a:t>Stripe Checkout</a:t>
                      </a:r>
                    </a:p>
                  </a:txBody>
                  <a:tcPr/>
                </a:tc>
                <a:tc>
                  <a:txBody>
                    <a:bodyPr/>
                    <a:lstStyle/>
                    <a:p>
                      <a:pPr>
                        <a:defRPr sz="850">
                          <a:solidFill>
                            <a:srgbClr val="374151"/>
                          </a:solidFill>
                          <a:latin typeface="Calibri"/>
                        </a:defRPr>
                      </a:pPr>
                      <a:r>
                        <a:t>Complete payment and create order</a:t>
                      </a:r>
                    </a:p>
                  </a:txBody>
                  <a:tcPr/>
                </a:tc>
                <a:tc>
                  <a:txBody>
                    <a:bodyPr/>
                    <a:lstStyle/>
                    <a:p>
                      <a:pPr>
                        <a:defRPr sz="850">
                          <a:solidFill>
                            <a:srgbClr val="374151"/>
                          </a:solidFill>
                          <a:latin typeface="Calibri"/>
                        </a:defRPr>
                      </a:pPr>
                      <a:r>
                        <a:t>Integration</a:t>
                      </a:r>
                    </a:p>
                  </a:txBody>
                  <a:tcPr/>
                </a:tc>
                <a:tc>
                  <a:txBody>
                    <a:bodyPr/>
                    <a:lstStyle/>
                    <a:p>
                      <a:pPr>
                        <a:defRPr sz="850" b="1">
                          <a:solidFill>
                            <a:srgbClr val="166534"/>
                          </a:solidFill>
                          <a:latin typeface="Calibri"/>
                        </a:defRPr>
                      </a:pPr>
                      <a:r>
                        <a:t>PASS</a:t>
                      </a:r>
                    </a:p>
                  </a:txBody>
                  <a:tcPr/>
                </a:tc>
              </a:tr>
              <a:tr h="152400">
                <a:tc>
                  <a:txBody>
                    <a:bodyPr/>
                    <a:lstStyle/>
                    <a:p>
                      <a:pPr>
                        <a:defRPr sz="850">
                          <a:solidFill>
                            <a:srgbClr val="374151"/>
                          </a:solidFill>
                          <a:latin typeface="Calibri"/>
                        </a:defRPr>
                      </a:pPr>
                      <a:r>
                        <a:t>Seller Product Mgmt</a:t>
                      </a:r>
                    </a:p>
                  </a:txBody>
                  <a:tcPr>
                    <a:solidFill>
                      <a:srgbClr val="F9FAFB"/>
                    </a:solidFill>
                  </a:tcPr>
                </a:tc>
                <a:tc>
                  <a:txBody>
                    <a:bodyPr/>
                    <a:lstStyle/>
                    <a:p>
                      <a:pPr>
                        <a:defRPr sz="850">
                          <a:solidFill>
                            <a:srgbClr val="374151"/>
                          </a:solidFill>
                          <a:latin typeface="Calibri"/>
                        </a:defRPr>
                      </a:pPr>
                      <a:r>
                        <a:t>Create, edit, delete products</a:t>
                      </a:r>
                    </a:p>
                  </a:txBody>
                  <a:tcPr>
                    <a:solidFill>
                      <a:srgbClr val="F9FAFB"/>
                    </a:solidFill>
                  </a:tcPr>
                </a:tc>
                <a:tc>
                  <a:txBody>
                    <a:bodyPr/>
                    <a:lstStyle/>
                    <a:p>
                      <a:pPr>
                        <a:defRPr sz="850">
                          <a:solidFill>
                            <a:srgbClr val="374151"/>
                          </a:solidFill>
                          <a:latin typeface="Calibri"/>
                        </a:defRPr>
                      </a:pPr>
                      <a:r>
                        <a:t>Functional</a:t>
                      </a:r>
                    </a:p>
                  </a:txBody>
                  <a:tcPr>
                    <a:solidFill>
                      <a:srgbClr val="F9FAFB"/>
                    </a:solidFill>
                  </a:tcPr>
                </a:tc>
                <a:tc>
                  <a:txBody>
                    <a:bodyPr/>
                    <a:lstStyle/>
                    <a:p>
                      <a:pPr>
                        <a:defRPr sz="850" b="1">
                          <a:solidFill>
                            <a:srgbClr val="166534"/>
                          </a:solidFill>
                          <a:latin typeface="Calibri"/>
                        </a:defRPr>
                      </a:pPr>
                      <a:r>
                        <a:t>PASS</a:t>
                      </a:r>
                    </a:p>
                  </a:txBody>
                  <a:tcPr>
                    <a:solidFill>
                      <a:srgbClr val="F9FAFB"/>
                    </a:solidFill>
                  </a:tcPr>
                </a:tc>
              </a:tr>
            </a:tbl>
          </a:graphicData>
        </a:graphic>
      </p:graphicFrame>
      <p:sp>
        <p:nvSpPr>
          <p:cNvPr id="64" name="TextBox 63"/>
          <p:cNvSpPr txBox="1"/>
          <p:nvPr/>
        </p:nvSpPr>
        <p:spPr>
          <a:xfrm>
            <a:off x="3063240" y="8202168"/>
            <a:ext cx="8991295" cy="228600"/>
          </a:xfrm>
          <a:prstGeom prst="rect">
            <a:avLst/>
          </a:prstGeom>
          <a:noFill/>
        </p:spPr>
        <p:txBody>
          <a:bodyPr wrap="square">
            <a:spAutoFit/>
          </a:bodyPr>
          <a:lstStyle/>
          <a:p>
            <a:pPr algn="l">
              <a:defRPr sz="1100" b="1">
                <a:solidFill>
                  <a:srgbClr val="1A2E4A"/>
                </a:solidFill>
                <a:latin typeface="Calibri"/>
              </a:defRPr>
            </a:pPr>
            <a:r>
              <a:t>REFERENCES</a:t>
            </a:r>
          </a:p>
        </p:txBody>
      </p:sp>
      <p:sp>
        <p:nvSpPr>
          <p:cNvPr id="65" name="Rectangle 64"/>
          <p:cNvSpPr/>
          <p:nvPr/>
        </p:nvSpPr>
        <p:spPr>
          <a:xfrm>
            <a:off x="3063240" y="8430768"/>
            <a:ext cx="1371600" cy="25400"/>
          </a:xfrm>
          <a:prstGeom prst="rect">
            <a:avLst/>
          </a:prstGeom>
          <a:solidFill>
            <a:srgbClr val="2E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063240" y="8503920"/>
            <a:ext cx="8991295" cy="640080"/>
          </a:xfrm>
          <a:prstGeom prst="rect">
            <a:avLst/>
          </a:prstGeom>
          <a:noFill/>
        </p:spPr>
        <p:txBody>
          <a:bodyPr wrap="square">
            <a:spAutoFit/>
          </a:bodyPr>
          <a:lstStyle/>
          <a:p>
            <a:pPr algn="l">
              <a:defRPr sz="800" b="0">
                <a:solidFill>
                  <a:srgbClr val="6B7280"/>
                </a:solidFill>
                <a:latin typeface="Calibri"/>
              </a:defRPr>
            </a:pPr>
            <a:r>
              <a:t>[1] Alsaqqa, A. et al. (2020). Agile Software Development: A Systematic Mapping Study.</a:t>
            </a:r>
          </a:p>
          <a:p>
            <a:pPr>
              <a:spcBef>
                <a:spcPts val="200"/>
              </a:spcBef>
              <a:spcAft>
                <a:spcPts val="200"/>
              </a:spcAft>
              <a:defRPr sz="800" b="0">
                <a:solidFill>
                  <a:srgbClr val="6B7280"/>
                </a:solidFill>
                <a:latin typeface="Calibri"/>
              </a:defRPr>
            </a:pPr>
            <a:r>
              <a:t>[2] Mohamad, M. &amp; Hassim, N. (2019). Hijab as Fashion Statement. Intl. Journal of Social Science.</a:t>
            </a:r>
          </a:p>
          <a:p>
            <a:pPr>
              <a:spcBef>
                <a:spcPts val="200"/>
              </a:spcBef>
              <a:spcAft>
                <a:spcPts val="200"/>
              </a:spcAft>
              <a:defRPr sz="800" b="0">
                <a:solidFill>
                  <a:srgbClr val="6B7280"/>
                </a:solidFill>
                <a:latin typeface="Calibri"/>
              </a:defRPr>
            </a:pPr>
            <a:r>
              <a:t>[3] Salaam Gateway (2023). State of the Global Islamic Economy Report 2023.</a:t>
            </a:r>
          </a:p>
          <a:p>
            <a:pPr>
              <a:spcBef>
                <a:spcPts val="200"/>
              </a:spcBef>
              <a:spcAft>
                <a:spcPts val="200"/>
              </a:spcAft>
              <a:defRPr sz="800" b="0">
                <a:solidFill>
                  <a:srgbClr val="6B7280"/>
                </a:solidFill>
                <a:latin typeface="Calibri"/>
              </a:defRPr>
            </a:pPr>
            <a:r>
              <a:t>[4] Salem, R. (2022). E-commerce and Modest Fashion. Journal of Fashion Marketing.</a:t>
            </a:r>
          </a:p>
        </p:txBody>
      </p:sp>
      <p:sp>
        <p:nvSpPr>
          <p:cNvPr id="67" name="Rectangle 66"/>
          <p:cNvSpPr/>
          <p:nvPr/>
        </p:nvSpPr>
        <p:spPr>
          <a:xfrm>
            <a:off x="0" y="6446520"/>
            <a:ext cx="12191695" cy="41148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65760" y="6519672"/>
            <a:ext cx="5486400" cy="274320"/>
          </a:xfrm>
          <a:prstGeom prst="rect">
            <a:avLst/>
          </a:prstGeom>
          <a:noFill/>
        </p:spPr>
        <p:txBody>
          <a:bodyPr wrap="square">
            <a:spAutoFit/>
          </a:bodyPr>
          <a:lstStyle/>
          <a:p>
            <a:pPr algn="l">
              <a:defRPr sz="800" b="0">
                <a:solidFill>
                  <a:srgbClr val="CCDDEE"/>
                </a:solidFill>
                <a:latin typeface="Calibri"/>
              </a:defRPr>
            </a:pPr>
            <a:r>
              <a:t>Faculty of Computing and Informatics | Universiti Malaysia Sabah</a:t>
            </a:r>
          </a:p>
        </p:txBody>
      </p:sp>
      <p:sp>
        <p:nvSpPr>
          <p:cNvPr id="69" name="TextBox 68"/>
          <p:cNvSpPr txBox="1"/>
          <p:nvPr/>
        </p:nvSpPr>
        <p:spPr>
          <a:xfrm>
            <a:off x="7315200" y="6519672"/>
            <a:ext cx="4572000" cy="274320"/>
          </a:xfrm>
          <a:prstGeom prst="rect">
            <a:avLst/>
          </a:prstGeom>
          <a:noFill/>
        </p:spPr>
        <p:txBody>
          <a:bodyPr wrap="square">
            <a:spAutoFit/>
          </a:bodyPr>
          <a:lstStyle/>
          <a:p>
            <a:pPr algn="r">
              <a:defRPr sz="800" b="0">
                <a:solidFill>
                  <a:srgbClr val="CCDDEE"/>
                </a:solidFill>
                <a:latin typeface="Calibri"/>
              </a:defRPr>
            </a:pPr>
            <a:r>
              <a:t>Final Year Project 2025 | Norain Aqilah Binti Shamsuddin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